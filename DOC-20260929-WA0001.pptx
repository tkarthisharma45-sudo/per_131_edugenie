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34.png" ContentType="image/png"/>
  <Override PartName="/ppt/media/image17.png" ContentType="image/png"/>
  <Override PartName="/ppt/media/image4.png" ContentType="image/png"/>
  <Override PartName="/ppt/media/image11.png" ContentType="image/png"/>
  <Override PartName="/ppt/media/image36.png" ContentType="image/png"/>
  <Override PartName="/ppt/media/image10.png" ContentType="image/png"/>
  <Override PartName="/ppt/media/image3.png" ContentType="image/png"/>
  <Override PartName="/ppt/media/image35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9.png" ContentType="image/png"/>
  <Override PartName="/ppt/media/image16.png" ContentType="image/png"/>
  <Override PartName="/ppt/media/image31.png" ContentType="image/png"/>
  <Override PartName="/ppt/media/image25.png" ContentType="image/png"/>
  <Override PartName="/ppt/media/image40.png" ContentType="image/png"/>
  <Override PartName="/ppt/media/image26.png" ContentType="image/png"/>
  <Override PartName="/ppt/media/image41.png" ContentType="image/png"/>
  <Override PartName="/ppt/media/image27.png" ContentType="image/png"/>
  <Override PartName="/ppt/media/image42.png" ContentType="image/png"/>
  <Override PartName="/ppt/media/image28.png" ContentType="image/png"/>
  <Override PartName="/ppt/media/image43.png" ContentType="image/png"/>
  <Override PartName="/ppt/media/image29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21.png" ContentType="image/png"/>
  <Override PartName="/ppt/media/image32.png" ContentType="image/png"/>
  <Override PartName="/ppt/media/image30.png" ContentType="image/png"/>
  <Override PartName="/ppt/media/image49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85BE16-B76C-4353-931B-FAB0CF44D1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576138-D4A2-4A98-9BC3-6349ED8ABDDC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/>
          <p:cNvSpPr/>
          <p:nvPr/>
        </p:nvSpPr>
        <p:spPr>
          <a:xfrm>
            <a:off x="762120" y="4526640"/>
            <a:ext cx="106671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" name="Google Shape;85;p13"/>
          <p:cNvSpPr/>
          <p:nvPr/>
        </p:nvSpPr>
        <p:spPr>
          <a:xfrm>
            <a:off x="762120" y="3939120"/>
            <a:ext cx="608760" cy="37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" name="Google Shape;86;p13"/>
          <p:cNvSpPr/>
          <p:nvPr/>
        </p:nvSpPr>
        <p:spPr>
          <a:xfrm>
            <a:off x="594000" y="4302720"/>
            <a:ext cx="106671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8" name="Google Shape;87;p13" descr="image.png"/>
          <p:cNvPicPr/>
          <p:nvPr/>
        </p:nvPicPr>
        <p:blipFill>
          <a:blip r:embed="rId1"/>
          <a:stretch/>
        </p:blipFill>
        <p:spPr>
          <a:xfrm>
            <a:off x="762120" y="609480"/>
            <a:ext cx="380160" cy="38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88;p13" descr="image.png"/>
          <p:cNvPicPr/>
          <p:nvPr/>
        </p:nvPicPr>
        <p:blipFill>
          <a:blip r:embed="rId2"/>
          <a:stretch/>
        </p:blipFill>
        <p:spPr>
          <a:xfrm>
            <a:off x="833400" y="704880"/>
            <a:ext cx="23724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89;p13"/>
          <p:cNvSpPr/>
          <p:nvPr/>
        </p:nvSpPr>
        <p:spPr>
          <a:xfrm>
            <a:off x="9277200" y="719280"/>
            <a:ext cx="26899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AI | GENERATIVE AI | EDTECH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Google Shape;90;p13"/>
          <p:cNvSpPr/>
          <p:nvPr/>
        </p:nvSpPr>
        <p:spPr>
          <a:xfrm>
            <a:off x="762120" y="2367000"/>
            <a:ext cx="11429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8bdf8"/>
                </a:solidFill>
                <a:uFillTx/>
                <a:latin typeface="Inter"/>
                <a:ea typeface="Inter"/>
              </a:rPr>
              <a:t>INTELLIGENT LEARNING PLATFORM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Google Shape;91;p13"/>
          <p:cNvSpPr/>
          <p:nvPr/>
        </p:nvSpPr>
        <p:spPr>
          <a:xfrm>
            <a:off x="762120" y="2719440"/>
            <a:ext cx="11429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8fafc"/>
                </a:solidFill>
                <a:uFillTx/>
                <a:latin typeface="Plus Jakarta Sans"/>
                <a:ea typeface="Plus Jakarta Sans"/>
              </a:rPr>
              <a:t>EDUGENIE</a:t>
            </a:r>
            <a:endParaRPr b="0" lang="en-US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Google Shape;92;p13"/>
          <p:cNvSpPr/>
          <p:nvPr/>
        </p:nvSpPr>
        <p:spPr>
          <a:xfrm>
            <a:off x="762120" y="3580200"/>
            <a:ext cx="9047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AI-Powered Educational Assistant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Google Shape;93;p13"/>
          <p:cNvSpPr/>
          <p:nvPr/>
        </p:nvSpPr>
        <p:spPr>
          <a:xfrm>
            <a:off x="1257480" y="704880"/>
            <a:ext cx="23565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ACADEMIC PROJECT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Google Shape;94;p13"/>
          <p:cNvSpPr/>
          <p:nvPr/>
        </p:nvSpPr>
        <p:spPr>
          <a:xfrm>
            <a:off x="762120" y="4059360"/>
            <a:ext cx="1389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PRESENTED BY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Google Shape;95;p13"/>
          <p:cNvSpPr/>
          <p:nvPr/>
        </p:nvSpPr>
        <p:spPr>
          <a:xfrm>
            <a:off x="697320" y="4346640"/>
            <a:ext cx="2115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KARTHI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RAJ KUMAR 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1f5f9"/>
                </a:solidFill>
                <a:uFillTx/>
                <a:latin typeface="Plus Jakarta Sans"/>
                <a:ea typeface="Plus Jakarta Sans"/>
              </a:rPr>
              <a:t>DHANUSH RAM 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Google Shape;96;p13"/>
          <p:cNvSpPr/>
          <p:nvPr/>
        </p:nvSpPr>
        <p:spPr>
          <a:xfrm>
            <a:off x="6846120" y="5848200"/>
            <a:ext cx="45831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DEPARTMENT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Google Shape;97;p13"/>
          <p:cNvSpPr/>
          <p:nvPr/>
        </p:nvSpPr>
        <p:spPr>
          <a:xfrm>
            <a:off x="6846120" y="6048360"/>
            <a:ext cx="45831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cbd5e1"/>
                </a:solidFill>
                <a:uFillTx/>
                <a:latin typeface="Inter"/>
                <a:ea typeface="Inter"/>
              </a:rPr>
              <a:t>B.Sc. Computer Science –Artificial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cbd5e1"/>
                </a:solidFill>
                <a:uFillTx/>
                <a:latin typeface="Inter"/>
                <a:ea typeface="Inter"/>
              </a:rPr>
              <a:t>  </a:t>
            </a:r>
            <a:r>
              <a:rPr b="1" lang="en-US" sz="1350" strike="noStrike" u="none">
                <a:solidFill>
                  <a:srgbClr val="cbd5e1"/>
                </a:solidFill>
                <a:uFillTx/>
                <a:latin typeface="Inter"/>
                <a:ea typeface="Inter"/>
              </a:rPr>
              <a:t>Intelligence 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02;p14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0" name="Google Shape;103;p14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" name="Google Shape;104;p14"/>
          <p:cNvSpPr/>
          <p:nvPr/>
        </p:nvSpPr>
        <p:spPr>
          <a:xfrm>
            <a:off x="685800" y="3808800"/>
            <a:ext cx="5238000" cy="7995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" name="Google Shape;105;p14"/>
          <p:cNvSpPr/>
          <p:nvPr/>
        </p:nvSpPr>
        <p:spPr>
          <a:xfrm>
            <a:off x="6267600" y="2053440"/>
            <a:ext cx="5238000" cy="52308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3" name="Google Shape;106;p14"/>
          <p:cNvSpPr/>
          <p:nvPr/>
        </p:nvSpPr>
        <p:spPr>
          <a:xfrm>
            <a:off x="6267600" y="2691720"/>
            <a:ext cx="5238000" cy="52308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" name="Google Shape;107;p14"/>
          <p:cNvSpPr/>
          <p:nvPr/>
        </p:nvSpPr>
        <p:spPr>
          <a:xfrm>
            <a:off x="6267600" y="3330000"/>
            <a:ext cx="5238000" cy="52308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" name="Google Shape;108;p14"/>
          <p:cNvSpPr/>
          <p:nvPr/>
        </p:nvSpPr>
        <p:spPr>
          <a:xfrm>
            <a:off x="6267600" y="3967920"/>
            <a:ext cx="5238000" cy="52308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" name="Google Shape;109;p14"/>
          <p:cNvSpPr/>
          <p:nvPr/>
        </p:nvSpPr>
        <p:spPr>
          <a:xfrm>
            <a:off x="6267600" y="4606200"/>
            <a:ext cx="5238000" cy="52308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7" name="Google Shape;110;p14" descr="image.png"/>
          <p:cNvPicPr/>
          <p:nvPr/>
        </p:nvPicPr>
        <p:blipFill>
          <a:blip r:embed="rId1"/>
          <a:stretch/>
        </p:blipFill>
        <p:spPr>
          <a:xfrm>
            <a:off x="923760" y="4094640"/>
            <a:ext cx="19944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111;p14" descr="image.png"/>
          <p:cNvPicPr/>
          <p:nvPr/>
        </p:nvPicPr>
        <p:blipFill>
          <a:blip r:embed="rId2"/>
          <a:stretch/>
        </p:blipFill>
        <p:spPr>
          <a:xfrm>
            <a:off x="6467400" y="2220120"/>
            <a:ext cx="189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112;p14" descr="image.png"/>
          <p:cNvPicPr/>
          <p:nvPr/>
        </p:nvPicPr>
        <p:blipFill>
          <a:blip r:embed="rId3"/>
          <a:stretch/>
        </p:blipFill>
        <p:spPr>
          <a:xfrm>
            <a:off x="6467400" y="2858400"/>
            <a:ext cx="14220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13;p14" descr="image.png"/>
          <p:cNvPicPr/>
          <p:nvPr/>
        </p:nvPicPr>
        <p:blipFill>
          <a:blip r:embed="rId4"/>
          <a:stretch/>
        </p:blipFill>
        <p:spPr>
          <a:xfrm>
            <a:off x="6467400" y="3496680"/>
            <a:ext cx="189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114;p14" descr="image.png"/>
          <p:cNvPicPr/>
          <p:nvPr/>
        </p:nvPicPr>
        <p:blipFill>
          <a:blip r:embed="rId5"/>
          <a:stretch/>
        </p:blipFill>
        <p:spPr>
          <a:xfrm>
            <a:off x="6467400" y="4134600"/>
            <a:ext cx="14220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15;p14" descr="image.png"/>
          <p:cNvPicPr/>
          <p:nvPr/>
        </p:nvPicPr>
        <p:blipFill>
          <a:blip r:embed="rId6"/>
          <a:stretch/>
        </p:blipFill>
        <p:spPr>
          <a:xfrm>
            <a:off x="6467400" y="4772880"/>
            <a:ext cx="18972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16;p14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EXECUTIVE SUMMARY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17;p14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Project Overview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118;p14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Google Shape;119;p14"/>
          <p:cNvSpPr/>
          <p:nvPr/>
        </p:nvSpPr>
        <p:spPr>
          <a:xfrm>
            <a:off x="10991880" y="6162840"/>
            <a:ext cx="7995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02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Google Shape;120;p14"/>
          <p:cNvSpPr/>
          <p:nvPr/>
        </p:nvSpPr>
        <p:spPr>
          <a:xfrm>
            <a:off x="685800" y="2574720"/>
            <a:ext cx="5333400" cy="12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EduGenie combines Generative AI with a student-friendly web interface to deliver on-demand educational support.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Google Shape;121;p14"/>
          <p:cNvSpPr/>
          <p:nvPr/>
        </p:nvSpPr>
        <p:spPr>
          <a:xfrm>
            <a:off x="1238400" y="4008960"/>
            <a:ext cx="4542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Unified cognitive study assistant powered by Google Gemini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Google Shape;122;p14"/>
          <p:cNvSpPr/>
          <p:nvPr/>
        </p:nvSpPr>
        <p:spPr>
          <a:xfrm>
            <a:off x="6810480" y="2215440"/>
            <a:ext cx="22734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AI Question &amp; Answer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Google Shape;123;p14"/>
          <p:cNvSpPr/>
          <p:nvPr/>
        </p:nvSpPr>
        <p:spPr>
          <a:xfrm>
            <a:off x="6762600" y="2853720"/>
            <a:ext cx="2130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Concept Explanation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Google Shape;124;p14"/>
          <p:cNvSpPr/>
          <p:nvPr/>
        </p:nvSpPr>
        <p:spPr>
          <a:xfrm>
            <a:off x="6810480" y="3491640"/>
            <a:ext cx="2844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Interactive Quiz Generation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Google Shape;125;p14"/>
          <p:cNvSpPr/>
          <p:nvPr/>
        </p:nvSpPr>
        <p:spPr>
          <a:xfrm>
            <a:off x="6762600" y="4129920"/>
            <a:ext cx="31186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Study Material Summarization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26;p14"/>
          <p:cNvSpPr/>
          <p:nvPr/>
        </p:nvSpPr>
        <p:spPr>
          <a:xfrm>
            <a:off x="6810480" y="4768200"/>
            <a:ext cx="43092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Personalized Learning Recommendations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31;p15"/>
          <p:cNvSpPr/>
          <p:nvPr/>
        </p:nvSpPr>
        <p:spPr>
          <a:xfrm>
            <a:off x="685800" y="5829480"/>
            <a:ext cx="10819800" cy="49464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5" name="Google Shape;132;p15"/>
          <p:cNvSpPr/>
          <p:nvPr/>
        </p:nvSpPr>
        <p:spPr>
          <a:xfrm>
            <a:off x="685800" y="2634480"/>
            <a:ext cx="2561400" cy="1742400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9525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6" name="Google Shape;133;p15"/>
          <p:cNvSpPr/>
          <p:nvPr/>
        </p:nvSpPr>
        <p:spPr>
          <a:xfrm>
            <a:off x="3438360" y="2634480"/>
            <a:ext cx="2561400" cy="1742400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9525">
            <a:solidFill>
              <a:srgbClr val="ffe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7" name="Google Shape;134;p15"/>
          <p:cNvSpPr/>
          <p:nvPr/>
        </p:nvSpPr>
        <p:spPr>
          <a:xfrm>
            <a:off x="6191280" y="2634480"/>
            <a:ext cx="2561400" cy="1742400"/>
          </a:xfrm>
          <a:prstGeom prst="roundRect">
            <a:avLst>
              <a:gd name="adj" fmla="val 6557"/>
            </a:avLst>
          </a:prstGeom>
          <a:solidFill>
            <a:srgbClr val="fefce8"/>
          </a:solidFill>
          <a:ln w="9525">
            <a:solidFill>
              <a:srgbClr val="fef9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48" name="Google Shape;135;p15"/>
          <p:cNvSpPr/>
          <p:nvPr/>
        </p:nvSpPr>
        <p:spPr>
          <a:xfrm>
            <a:off x="8943840" y="2634480"/>
            <a:ext cx="2561400" cy="1742400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49" name="Google Shape;136;p15" descr="image.png"/>
          <p:cNvPicPr/>
          <p:nvPr/>
        </p:nvPicPr>
        <p:blipFill>
          <a:blip r:embed="rId1"/>
          <a:stretch/>
        </p:blipFill>
        <p:spPr>
          <a:xfrm>
            <a:off x="914400" y="5981760"/>
            <a:ext cx="189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Google Shape;137;p15" descr="image.png"/>
          <p:cNvPicPr/>
          <p:nvPr/>
        </p:nvPicPr>
        <p:blipFill>
          <a:blip r:embed="rId2"/>
          <a:stretch/>
        </p:blipFill>
        <p:spPr>
          <a:xfrm>
            <a:off x="923760" y="291096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8;p15" descr="image.png"/>
          <p:cNvPicPr/>
          <p:nvPr/>
        </p:nvPicPr>
        <p:blipFill>
          <a:blip r:embed="rId3"/>
          <a:stretch/>
        </p:blipFill>
        <p:spPr>
          <a:xfrm>
            <a:off x="3676680" y="2910960"/>
            <a:ext cx="1994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139;p15" descr="image.png"/>
          <p:cNvPicPr/>
          <p:nvPr/>
        </p:nvPicPr>
        <p:blipFill>
          <a:blip r:embed="rId4"/>
          <a:stretch/>
        </p:blipFill>
        <p:spPr>
          <a:xfrm>
            <a:off x="6429240" y="2910960"/>
            <a:ext cx="1994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40;p15" descr="image.png"/>
          <p:cNvPicPr/>
          <p:nvPr/>
        </p:nvPicPr>
        <p:blipFill>
          <a:blip r:embed="rId5"/>
          <a:stretch/>
        </p:blipFill>
        <p:spPr>
          <a:xfrm>
            <a:off x="9182160" y="291096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141;p15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dc2626"/>
                </a:solidFill>
                <a:uFillTx/>
                <a:latin typeface="Inter"/>
                <a:ea typeface="Inter"/>
              </a:rPr>
              <a:t>CHALLENGES IN SELF-STUDY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142;p15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Problem Statement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143;p15"/>
          <p:cNvSpPr/>
          <p:nvPr/>
        </p:nvSpPr>
        <p:spPr>
          <a:xfrm>
            <a:off x="1257480" y="5981760"/>
            <a:ext cx="83811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Traditional learning resources provide information but lack personalization and interactivity.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Google Shape;144;p15"/>
          <p:cNvSpPr/>
          <p:nvPr/>
        </p:nvSpPr>
        <p:spPr>
          <a:xfrm>
            <a:off x="923760" y="3330000"/>
            <a:ext cx="27370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Complex Concepts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Google Shape;145;p15"/>
          <p:cNvSpPr/>
          <p:nvPr/>
        </p:nvSpPr>
        <p:spPr>
          <a:xfrm>
            <a:off x="923760" y="3644280"/>
            <a:ext cx="2180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Understanding difficult academic ideas.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Google Shape;146;p15"/>
          <p:cNvSpPr/>
          <p:nvPr/>
        </p:nvSpPr>
        <p:spPr>
          <a:xfrm>
            <a:off x="3676680" y="3330000"/>
            <a:ext cx="27370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a3412"/>
                </a:solidFill>
                <a:uFillTx/>
                <a:latin typeface="Plus Jakarta Sans"/>
                <a:ea typeface="Plus Jakarta Sans"/>
              </a:rPr>
              <a:t>Slow Explanations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Google Shape;147;p15"/>
          <p:cNvSpPr/>
          <p:nvPr/>
        </p:nvSpPr>
        <p:spPr>
          <a:xfrm>
            <a:off x="3676680" y="3644280"/>
            <a:ext cx="2180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c2d12"/>
                </a:solidFill>
                <a:uFillTx/>
                <a:latin typeface="Inter"/>
                <a:ea typeface="Inter"/>
              </a:rPr>
              <a:t>Finding quick and clear explanations.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Google Shape;148;p15"/>
          <p:cNvSpPr/>
          <p:nvPr/>
        </p:nvSpPr>
        <p:spPr>
          <a:xfrm>
            <a:off x="6429240" y="3330000"/>
            <a:ext cx="27370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854d0e"/>
                </a:solidFill>
                <a:uFillTx/>
                <a:latin typeface="Plus Jakarta Sans"/>
                <a:ea typeface="Plus Jakarta Sans"/>
              </a:rPr>
              <a:t>Manual Quizzing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Google Shape;149;p15"/>
          <p:cNvSpPr/>
          <p:nvPr/>
        </p:nvSpPr>
        <p:spPr>
          <a:xfrm>
            <a:off x="6429240" y="3644280"/>
            <a:ext cx="2180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13f12"/>
                </a:solidFill>
                <a:uFillTx/>
                <a:latin typeface="Inter"/>
                <a:ea typeface="Inter"/>
              </a:rPr>
              <a:t>Preparing reliable practice questions.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Google Shape;150;p15"/>
          <p:cNvSpPr/>
          <p:nvPr/>
        </p:nvSpPr>
        <p:spPr>
          <a:xfrm>
            <a:off x="9182160" y="3330000"/>
            <a:ext cx="27370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No Guidance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Google Shape;151;p15"/>
          <p:cNvSpPr/>
          <p:nvPr/>
        </p:nvSpPr>
        <p:spPr>
          <a:xfrm>
            <a:off x="9182160" y="3644280"/>
            <a:ext cx="21805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Identifying what to study next.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56;p16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6" name="Google Shape;157;p16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7" name="Google Shape;158;p16"/>
          <p:cNvSpPr/>
          <p:nvPr/>
        </p:nvSpPr>
        <p:spPr>
          <a:xfrm>
            <a:off x="685800" y="221076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8" name="Google Shape;159;p16"/>
          <p:cNvSpPr/>
          <p:nvPr/>
        </p:nvSpPr>
        <p:spPr>
          <a:xfrm>
            <a:off x="685800" y="318240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69" name="Google Shape;160;p16"/>
          <p:cNvSpPr/>
          <p:nvPr/>
        </p:nvSpPr>
        <p:spPr>
          <a:xfrm>
            <a:off x="685800" y="415368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0" name="Google Shape;161;p16"/>
          <p:cNvSpPr/>
          <p:nvPr/>
        </p:nvSpPr>
        <p:spPr>
          <a:xfrm>
            <a:off x="6248520" y="221076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1" name="Google Shape;162;p16"/>
          <p:cNvSpPr/>
          <p:nvPr/>
        </p:nvSpPr>
        <p:spPr>
          <a:xfrm>
            <a:off x="6248520" y="318240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2" name="Google Shape;163;p16"/>
          <p:cNvSpPr/>
          <p:nvPr/>
        </p:nvSpPr>
        <p:spPr>
          <a:xfrm>
            <a:off x="6248520" y="4153680"/>
            <a:ext cx="5257080" cy="8182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73" name="Google Shape;164;p16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GOALS &amp; VISION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Google Shape;165;p16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Project Objectives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Google Shape;166;p16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Google Shape;167;p16"/>
          <p:cNvSpPr/>
          <p:nvPr/>
        </p:nvSpPr>
        <p:spPr>
          <a:xfrm>
            <a:off x="10991880" y="6162840"/>
            <a:ext cx="7995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04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168;p16"/>
          <p:cNvSpPr/>
          <p:nvPr/>
        </p:nvSpPr>
        <p:spPr>
          <a:xfrm>
            <a:off x="923760" y="2410560"/>
            <a:ext cx="5976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Provide AI-Powered Assistance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Google Shape;169;p16"/>
          <p:cNvSpPr/>
          <p:nvPr/>
        </p:nvSpPr>
        <p:spPr>
          <a:xfrm>
            <a:off x="923760" y="2648880"/>
            <a:ext cx="59763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Accessible guidance through modern web technology.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170;p16"/>
          <p:cNvSpPr/>
          <p:nvPr/>
        </p:nvSpPr>
        <p:spPr>
          <a:xfrm>
            <a:off x="923760" y="3382200"/>
            <a:ext cx="5976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Simplify Difficult Concepts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171;p16"/>
          <p:cNvSpPr/>
          <p:nvPr/>
        </p:nvSpPr>
        <p:spPr>
          <a:xfrm>
            <a:off x="923760" y="3620520"/>
            <a:ext cx="59763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Transform dense theory into clear explanations.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172;p16"/>
          <p:cNvSpPr/>
          <p:nvPr/>
        </p:nvSpPr>
        <p:spPr>
          <a:xfrm>
            <a:off x="923760" y="4353840"/>
            <a:ext cx="5976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Generate Practice Quizzes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173;p16"/>
          <p:cNvSpPr/>
          <p:nvPr/>
        </p:nvSpPr>
        <p:spPr>
          <a:xfrm>
            <a:off x="923760" y="4591800"/>
            <a:ext cx="59763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Automate self-assessment with instant scoring.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174;p16"/>
          <p:cNvSpPr/>
          <p:nvPr/>
        </p:nvSpPr>
        <p:spPr>
          <a:xfrm>
            <a:off x="6486480" y="2410560"/>
            <a:ext cx="5704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Summarize Study Materials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Google Shape;175;p16"/>
          <p:cNvSpPr/>
          <p:nvPr/>
        </p:nvSpPr>
        <p:spPr>
          <a:xfrm>
            <a:off x="6486480" y="2648880"/>
            <a:ext cx="570492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Synthesize lengthy readings into concise revision points.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Google Shape;176;p16"/>
          <p:cNvSpPr/>
          <p:nvPr/>
        </p:nvSpPr>
        <p:spPr>
          <a:xfrm>
            <a:off x="6486480" y="3382200"/>
            <a:ext cx="5704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Personalized Learning Paths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177;p16"/>
          <p:cNvSpPr/>
          <p:nvPr/>
        </p:nvSpPr>
        <p:spPr>
          <a:xfrm>
            <a:off x="6486480" y="3620520"/>
            <a:ext cx="570492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Deliver structured topic roadmaps and prerequisites.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178;p16"/>
          <p:cNvSpPr/>
          <p:nvPr/>
        </p:nvSpPr>
        <p:spPr>
          <a:xfrm>
            <a:off x="6486480" y="4353840"/>
            <a:ext cx="5704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Support Self-Paced Learning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79;p16"/>
          <p:cNvSpPr/>
          <p:nvPr/>
        </p:nvSpPr>
        <p:spPr>
          <a:xfrm>
            <a:off x="6486480" y="4591800"/>
            <a:ext cx="570492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Reduce manual note-making and study preparation time.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84;p17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0" name="Google Shape;185;p17"/>
          <p:cNvSpPr/>
          <p:nvPr/>
        </p:nvSpPr>
        <p:spPr>
          <a:xfrm>
            <a:off x="685800" y="2496600"/>
            <a:ext cx="5238000" cy="218988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1" name="Google Shape;186;p17"/>
          <p:cNvSpPr/>
          <p:nvPr/>
        </p:nvSpPr>
        <p:spPr>
          <a:xfrm>
            <a:off x="6267600" y="2496600"/>
            <a:ext cx="5238000" cy="218988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9525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2" name="Google Shape;187;p17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93" name="Google Shape;188;p17" descr="image.png"/>
          <p:cNvPicPr/>
          <p:nvPr/>
        </p:nvPicPr>
        <p:blipFill>
          <a:blip r:embed="rId1"/>
          <a:stretch/>
        </p:blipFill>
        <p:spPr>
          <a:xfrm>
            <a:off x="1000080" y="3287160"/>
            <a:ext cx="13248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89;p17" descr="image.png"/>
          <p:cNvPicPr/>
          <p:nvPr/>
        </p:nvPicPr>
        <p:blipFill>
          <a:blip r:embed="rId2"/>
          <a:stretch/>
        </p:blipFill>
        <p:spPr>
          <a:xfrm>
            <a:off x="1000080" y="359172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190;p17" descr="image.png"/>
          <p:cNvPicPr/>
          <p:nvPr/>
        </p:nvPicPr>
        <p:blipFill>
          <a:blip r:embed="rId3"/>
          <a:stretch/>
        </p:blipFill>
        <p:spPr>
          <a:xfrm>
            <a:off x="1000080" y="389664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91;p17" descr="image.png"/>
          <p:cNvPicPr/>
          <p:nvPr/>
        </p:nvPicPr>
        <p:blipFill>
          <a:blip r:embed="rId4"/>
          <a:stretch/>
        </p:blipFill>
        <p:spPr>
          <a:xfrm>
            <a:off x="1000080" y="420156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Google Shape;192;p17" descr="image.png"/>
          <p:cNvPicPr/>
          <p:nvPr/>
        </p:nvPicPr>
        <p:blipFill>
          <a:blip r:embed="rId5"/>
          <a:stretch/>
        </p:blipFill>
        <p:spPr>
          <a:xfrm>
            <a:off x="6581880" y="328716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93;p17" descr="image.png"/>
          <p:cNvPicPr/>
          <p:nvPr/>
        </p:nvPicPr>
        <p:blipFill>
          <a:blip r:embed="rId6"/>
          <a:stretch/>
        </p:blipFill>
        <p:spPr>
          <a:xfrm>
            <a:off x="6581880" y="359172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94;p17" descr="image.png"/>
          <p:cNvPicPr/>
          <p:nvPr/>
        </p:nvPicPr>
        <p:blipFill>
          <a:blip r:embed="rId7"/>
          <a:stretch/>
        </p:blipFill>
        <p:spPr>
          <a:xfrm>
            <a:off x="6581880" y="389664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95;p17" descr="image.png"/>
          <p:cNvPicPr/>
          <p:nvPr/>
        </p:nvPicPr>
        <p:blipFill>
          <a:blip r:embed="rId8"/>
          <a:stretch/>
        </p:blipFill>
        <p:spPr>
          <a:xfrm>
            <a:off x="6581880" y="4201560"/>
            <a:ext cx="151560" cy="1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Google Shape;196;p17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STATE OF CURRENT METHODS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Google Shape;197;p17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Existing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Google Shape;198;p17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Google Shape;199;p17"/>
          <p:cNvSpPr/>
          <p:nvPr/>
        </p:nvSpPr>
        <p:spPr>
          <a:xfrm>
            <a:off x="11001240" y="6162840"/>
            <a:ext cx="7898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05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Google Shape;200;p17"/>
          <p:cNvSpPr/>
          <p:nvPr/>
        </p:nvSpPr>
        <p:spPr>
          <a:xfrm>
            <a:off x="1000080" y="2810880"/>
            <a:ext cx="60501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Conventional Resources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Google Shape;201;p17"/>
          <p:cNvSpPr/>
          <p:nvPr/>
        </p:nvSpPr>
        <p:spPr>
          <a:xfrm>
            <a:off x="6581880" y="2810880"/>
            <a:ext cx="5609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991b1b"/>
                </a:solidFill>
                <a:uFillTx/>
                <a:latin typeface="Plus Jakarta Sans"/>
                <a:ea typeface="Plus Jakarta Sans"/>
              </a:rPr>
              <a:t>Key Limitations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Google Shape;202;p17"/>
          <p:cNvSpPr/>
          <p:nvPr/>
        </p:nvSpPr>
        <p:spPr>
          <a:xfrm>
            <a:off x="1247760" y="3268080"/>
            <a:ext cx="29757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Static textbooks and paper notes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Google Shape;203;p17"/>
          <p:cNvSpPr/>
          <p:nvPr/>
        </p:nvSpPr>
        <p:spPr>
          <a:xfrm>
            <a:off x="1266840" y="3572640"/>
            <a:ext cx="2642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Dispersed web search results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204;p17"/>
          <p:cNvSpPr/>
          <p:nvPr/>
        </p:nvSpPr>
        <p:spPr>
          <a:xfrm>
            <a:off x="1266840" y="3877560"/>
            <a:ext cx="3214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Manually prepared practice quizzes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Google Shape;205;p17"/>
          <p:cNvSpPr/>
          <p:nvPr/>
        </p:nvSpPr>
        <p:spPr>
          <a:xfrm>
            <a:off x="1266840" y="4182480"/>
            <a:ext cx="3011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Generic, unpersonalized curricula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206;p17"/>
          <p:cNvSpPr/>
          <p:nvPr/>
        </p:nvSpPr>
        <p:spPr>
          <a:xfrm>
            <a:off x="6848640" y="3268080"/>
            <a:ext cx="4202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Minimal personalization for struggling students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207;p17"/>
          <p:cNvSpPr/>
          <p:nvPr/>
        </p:nvSpPr>
        <p:spPr>
          <a:xfrm>
            <a:off x="6848640" y="3572640"/>
            <a:ext cx="38689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Time-consuming preparation and synthesis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Google Shape;208;p17"/>
          <p:cNvSpPr/>
          <p:nvPr/>
        </p:nvSpPr>
        <p:spPr>
          <a:xfrm>
            <a:off x="6848640" y="3877560"/>
            <a:ext cx="382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Fragmented across multiple separate tools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209;p17"/>
          <p:cNvSpPr/>
          <p:nvPr/>
        </p:nvSpPr>
        <p:spPr>
          <a:xfrm>
            <a:off x="6848640" y="4182480"/>
            <a:ext cx="31662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1d1d"/>
                </a:solidFill>
                <a:uFillTx/>
                <a:latin typeface="Inter"/>
                <a:ea typeface="Inter"/>
              </a:rPr>
              <a:t>Lack of active interactive feedback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14;p18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6" name="Google Shape;215;p18"/>
          <p:cNvSpPr/>
          <p:nvPr/>
        </p:nvSpPr>
        <p:spPr>
          <a:xfrm>
            <a:off x="685800" y="2396520"/>
            <a:ext cx="10819800" cy="1485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7" name="Google Shape;216;p18"/>
          <p:cNvSpPr/>
          <p:nvPr/>
        </p:nvSpPr>
        <p:spPr>
          <a:xfrm>
            <a:off x="685800" y="4110840"/>
            <a:ext cx="10819800" cy="675720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8" name="Google Shape;217;p18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19" name="Google Shape;218;p18" descr="image.png"/>
          <p:cNvPicPr/>
          <p:nvPr/>
        </p:nvPicPr>
        <p:blipFill>
          <a:blip r:embed="rId1"/>
          <a:stretch/>
        </p:blipFill>
        <p:spPr>
          <a:xfrm>
            <a:off x="3419640" y="3044160"/>
            <a:ext cx="17064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19;p18" descr="image.png"/>
          <p:cNvPicPr/>
          <p:nvPr/>
        </p:nvPicPr>
        <p:blipFill>
          <a:blip r:embed="rId2"/>
          <a:stretch/>
        </p:blipFill>
        <p:spPr>
          <a:xfrm>
            <a:off x="6010200" y="3044160"/>
            <a:ext cx="17064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20;p18" descr="image.png"/>
          <p:cNvPicPr/>
          <p:nvPr/>
        </p:nvPicPr>
        <p:blipFill>
          <a:blip r:embed="rId3"/>
          <a:stretch/>
        </p:blipFill>
        <p:spPr>
          <a:xfrm>
            <a:off x="8601120" y="3044160"/>
            <a:ext cx="17064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21;p18" descr="image.png"/>
          <p:cNvPicPr/>
          <p:nvPr/>
        </p:nvPicPr>
        <p:blipFill>
          <a:blip r:embed="rId4"/>
          <a:stretch/>
        </p:blipFill>
        <p:spPr>
          <a:xfrm>
            <a:off x="1962000" y="2634480"/>
            <a:ext cx="494640" cy="49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22;p18" descr="image.png"/>
          <p:cNvPicPr/>
          <p:nvPr/>
        </p:nvPicPr>
        <p:blipFill>
          <a:blip r:embed="rId5"/>
          <a:stretch/>
        </p:blipFill>
        <p:spPr>
          <a:xfrm>
            <a:off x="4552920" y="2634480"/>
            <a:ext cx="494640" cy="49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3;p18" descr="image.png"/>
          <p:cNvPicPr/>
          <p:nvPr/>
        </p:nvPicPr>
        <p:blipFill>
          <a:blip r:embed="rId6"/>
          <a:stretch/>
        </p:blipFill>
        <p:spPr>
          <a:xfrm>
            <a:off x="7143840" y="2634480"/>
            <a:ext cx="494640" cy="49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24;p18" descr="image.png"/>
          <p:cNvPicPr/>
          <p:nvPr/>
        </p:nvPicPr>
        <p:blipFill>
          <a:blip r:embed="rId7"/>
          <a:stretch/>
        </p:blipFill>
        <p:spPr>
          <a:xfrm>
            <a:off x="9734400" y="2634480"/>
            <a:ext cx="494640" cy="49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5;p18" descr="image.png"/>
          <p:cNvPicPr/>
          <p:nvPr/>
        </p:nvPicPr>
        <p:blipFill>
          <a:blip r:embed="rId8"/>
          <a:stretch/>
        </p:blipFill>
        <p:spPr>
          <a:xfrm>
            <a:off x="2119320" y="2777400"/>
            <a:ext cx="180360" cy="2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26;p18" descr="image.png"/>
          <p:cNvPicPr/>
          <p:nvPr/>
        </p:nvPicPr>
        <p:blipFill>
          <a:blip r:embed="rId9"/>
          <a:stretch/>
        </p:blipFill>
        <p:spPr>
          <a:xfrm>
            <a:off x="4695840" y="2777400"/>
            <a:ext cx="208800" cy="2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27;p18" descr="image.png"/>
          <p:cNvPicPr/>
          <p:nvPr/>
        </p:nvPicPr>
        <p:blipFill>
          <a:blip r:embed="rId10"/>
          <a:stretch/>
        </p:blipFill>
        <p:spPr>
          <a:xfrm>
            <a:off x="7272360" y="2777400"/>
            <a:ext cx="237240" cy="2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8;p18" descr="image.png"/>
          <p:cNvPicPr/>
          <p:nvPr/>
        </p:nvPicPr>
        <p:blipFill>
          <a:blip r:embed="rId11"/>
          <a:stretch/>
        </p:blipFill>
        <p:spPr>
          <a:xfrm>
            <a:off x="9891720" y="2777400"/>
            <a:ext cx="180360" cy="2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oogle Shape;229;p18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THE EDUGENIE APPROACH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Google Shape;230;p18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Proposed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231;p18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232;p18"/>
          <p:cNvSpPr/>
          <p:nvPr/>
        </p:nvSpPr>
        <p:spPr>
          <a:xfrm>
            <a:off x="10991880" y="6162840"/>
            <a:ext cx="7995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06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233;p18"/>
          <p:cNvSpPr/>
          <p:nvPr/>
        </p:nvSpPr>
        <p:spPr>
          <a:xfrm>
            <a:off x="-136800" y="4349160"/>
            <a:ext cx="12465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Inter"/>
                <a:ea typeface="Inter"/>
              </a:rPr>
              <a:t>Combines multiple AI-powered learning functions into a single centralized web application.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Google Shape;234;p18"/>
          <p:cNvSpPr/>
          <p:nvPr/>
        </p:nvSpPr>
        <p:spPr>
          <a:xfrm>
            <a:off x="697680" y="3244320"/>
            <a:ext cx="3023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Student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Google Shape;235;p18"/>
          <p:cNvSpPr/>
          <p:nvPr/>
        </p:nvSpPr>
        <p:spPr>
          <a:xfrm>
            <a:off x="697680" y="3482280"/>
            <a:ext cx="3023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Inputs query or text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Google Shape;236;p18"/>
          <p:cNvSpPr/>
          <p:nvPr/>
        </p:nvSpPr>
        <p:spPr>
          <a:xfrm>
            <a:off x="3288600" y="3244320"/>
            <a:ext cx="3023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EduGenie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Google Shape;237;p18"/>
          <p:cNvSpPr/>
          <p:nvPr/>
        </p:nvSpPr>
        <p:spPr>
          <a:xfrm>
            <a:off x="3288600" y="3482280"/>
            <a:ext cx="3023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Unified React portal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Google Shape;238;p18"/>
          <p:cNvSpPr/>
          <p:nvPr/>
        </p:nvSpPr>
        <p:spPr>
          <a:xfrm>
            <a:off x="5879160" y="3244320"/>
            <a:ext cx="3023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AI Processing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Google Shape;239;p18"/>
          <p:cNvSpPr/>
          <p:nvPr/>
        </p:nvSpPr>
        <p:spPr>
          <a:xfrm>
            <a:off x="5879160" y="3482280"/>
            <a:ext cx="3023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Google Gemini LLM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Google Shape;240;p18"/>
          <p:cNvSpPr/>
          <p:nvPr/>
        </p:nvSpPr>
        <p:spPr>
          <a:xfrm>
            <a:off x="8470080" y="3244320"/>
            <a:ext cx="3023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Inter"/>
                <a:ea typeface="Inter"/>
              </a:rPr>
              <a:t>Educational Output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241;p18"/>
          <p:cNvSpPr/>
          <p:nvPr/>
        </p:nvSpPr>
        <p:spPr>
          <a:xfrm>
            <a:off x="8470080" y="3482280"/>
            <a:ext cx="3023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Structured result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246;p19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4" name="Google Shape;247;p19"/>
          <p:cNvSpPr/>
          <p:nvPr/>
        </p:nvSpPr>
        <p:spPr>
          <a:xfrm>
            <a:off x="685800" y="2948760"/>
            <a:ext cx="2041560" cy="12852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5" name="Google Shape;248;p19"/>
          <p:cNvSpPr/>
          <p:nvPr/>
        </p:nvSpPr>
        <p:spPr>
          <a:xfrm>
            <a:off x="2880360" y="2948760"/>
            <a:ext cx="2041560" cy="12852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6" name="Google Shape;249;p19"/>
          <p:cNvSpPr/>
          <p:nvPr/>
        </p:nvSpPr>
        <p:spPr>
          <a:xfrm>
            <a:off x="5074920" y="2948760"/>
            <a:ext cx="2041560" cy="12852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7" name="Google Shape;250;p19"/>
          <p:cNvSpPr/>
          <p:nvPr/>
        </p:nvSpPr>
        <p:spPr>
          <a:xfrm>
            <a:off x="7269480" y="2948760"/>
            <a:ext cx="2041560" cy="12852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8" name="Google Shape;251;p19"/>
          <p:cNvSpPr/>
          <p:nvPr/>
        </p:nvSpPr>
        <p:spPr>
          <a:xfrm>
            <a:off x="9464400" y="2948760"/>
            <a:ext cx="2041560" cy="12852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49" name="Google Shape;252;p19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50" name="Google Shape;253;p19" descr="image.png"/>
          <p:cNvPicPr/>
          <p:nvPr/>
        </p:nvPicPr>
        <p:blipFill>
          <a:blip r:embed="rId1"/>
          <a:stretch/>
        </p:blipFill>
        <p:spPr>
          <a:xfrm>
            <a:off x="1573560" y="318708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54;p19" descr="image.png"/>
          <p:cNvPicPr/>
          <p:nvPr/>
        </p:nvPicPr>
        <p:blipFill>
          <a:blip r:embed="rId2"/>
          <a:stretch/>
        </p:blipFill>
        <p:spPr>
          <a:xfrm>
            <a:off x="3801600" y="3187080"/>
            <a:ext cx="1994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255;p19" descr="image.png"/>
          <p:cNvPicPr/>
          <p:nvPr/>
        </p:nvPicPr>
        <p:blipFill>
          <a:blip r:embed="rId3"/>
          <a:stretch/>
        </p:blipFill>
        <p:spPr>
          <a:xfrm>
            <a:off x="5962680" y="318708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256;p19" descr="image.png"/>
          <p:cNvPicPr/>
          <p:nvPr/>
        </p:nvPicPr>
        <p:blipFill>
          <a:blip r:embed="rId4"/>
          <a:stretch/>
        </p:blipFill>
        <p:spPr>
          <a:xfrm>
            <a:off x="8190720" y="3187080"/>
            <a:ext cx="1994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257;p19" descr="image.png"/>
          <p:cNvPicPr/>
          <p:nvPr/>
        </p:nvPicPr>
        <p:blipFill>
          <a:blip r:embed="rId5"/>
          <a:stretch/>
        </p:blipFill>
        <p:spPr>
          <a:xfrm>
            <a:off x="10352160" y="318708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258;p19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PLATFORM CAPABILITIES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259;p19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Key Features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260;p19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Google Shape;261;p19"/>
          <p:cNvSpPr/>
          <p:nvPr/>
        </p:nvSpPr>
        <p:spPr>
          <a:xfrm>
            <a:off x="11001240" y="6162840"/>
            <a:ext cx="7898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07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Google Shape;262;p19"/>
          <p:cNvSpPr/>
          <p:nvPr/>
        </p:nvSpPr>
        <p:spPr>
          <a:xfrm>
            <a:off x="604080" y="3567960"/>
            <a:ext cx="22046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Q&amp;A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Google Shape;263;p19"/>
          <p:cNvSpPr/>
          <p:nvPr/>
        </p:nvSpPr>
        <p:spPr>
          <a:xfrm>
            <a:off x="656640" y="3834720"/>
            <a:ext cx="2099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Clear academic answers.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Google Shape;264;p19"/>
          <p:cNvSpPr/>
          <p:nvPr/>
        </p:nvSpPr>
        <p:spPr>
          <a:xfrm>
            <a:off x="2799000" y="3567960"/>
            <a:ext cx="22046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Explain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Google Shape;265;p19"/>
          <p:cNvSpPr/>
          <p:nvPr/>
        </p:nvSpPr>
        <p:spPr>
          <a:xfrm>
            <a:off x="2851200" y="3834720"/>
            <a:ext cx="2099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Simplifies complex topics.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Google Shape;266;p19"/>
          <p:cNvSpPr/>
          <p:nvPr/>
        </p:nvSpPr>
        <p:spPr>
          <a:xfrm>
            <a:off x="4993560" y="3567960"/>
            <a:ext cx="22046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Quiz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Google Shape;267;p19"/>
          <p:cNvSpPr/>
          <p:nvPr/>
        </p:nvSpPr>
        <p:spPr>
          <a:xfrm>
            <a:off x="5046120" y="3834720"/>
            <a:ext cx="2099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Evaluates understanding.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Google Shape;268;p19"/>
          <p:cNvSpPr/>
          <p:nvPr/>
        </p:nvSpPr>
        <p:spPr>
          <a:xfrm>
            <a:off x="7188120" y="3567960"/>
            <a:ext cx="22046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Summarizer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Google Shape;269;p19"/>
          <p:cNvSpPr/>
          <p:nvPr/>
        </p:nvSpPr>
        <p:spPr>
          <a:xfrm>
            <a:off x="7240680" y="3834720"/>
            <a:ext cx="2099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Condenses study notes.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Google Shape;270;p19"/>
          <p:cNvSpPr/>
          <p:nvPr/>
        </p:nvSpPr>
        <p:spPr>
          <a:xfrm>
            <a:off x="9382680" y="3567960"/>
            <a:ext cx="22046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Learning Path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Google Shape;271;p19"/>
          <p:cNvSpPr/>
          <p:nvPr/>
        </p:nvSpPr>
        <p:spPr>
          <a:xfrm>
            <a:off x="9435240" y="3834720"/>
            <a:ext cx="2099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Structured topic guide.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76;p20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0" name="Google Shape;277;p20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1" name="Google Shape;278;p20"/>
          <p:cNvSpPr/>
          <p:nvPr/>
        </p:nvSpPr>
        <p:spPr>
          <a:xfrm>
            <a:off x="685800" y="2220120"/>
            <a:ext cx="1713960" cy="45648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2" name="Google Shape;279;p20"/>
          <p:cNvSpPr/>
          <p:nvPr/>
        </p:nvSpPr>
        <p:spPr>
          <a:xfrm>
            <a:off x="685800" y="2791800"/>
            <a:ext cx="1713960" cy="45648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3" name="Google Shape;280;p20"/>
          <p:cNvSpPr/>
          <p:nvPr/>
        </p:nvSpPr>
        <p:spPr>
          <a:xfrm>
            <a:off x="685800" y="3363120"/>
            <a:ext cx="1713960" cy="45648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4" name="Google Shape;281;p20"/>
          <p:cNvSpPr/>
          <p:nvPr/>
        </p:nvSpPr>
        <p:spPr>
          <a:xfrm>
            <a:off x="685800" y="3934800"/>
            <a:ext cx="1713960" cy="456480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5" name="Google Shape;282;p20"/>
          <p:cNvSpPr/>
          <p:nvPr/>
        </p:nvSpPr>
        <p:spPr>
          <a:xfrm>
            <a:off x="685800" y="4506120"/>
            <a:ext cx="1713960" cy="45648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76" name="Google Shape;283;p20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SOFTWARE ENGINEERING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284;p20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System Architecture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Google Shape;285;p20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286;p20"/>
          <p:cNvSpPr/>
          <p:nvPr/>
        </p:nvSpPr>
        <p:spPr>
          <a:xfrm>
            <a:off x="10991880" y="6162840"/>
            <a:ext cx="7995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08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Google Shape;287;p20"/>
          <p:cNvSpPr/>
          <p:nvPr/>
        </p:nvSpPr>
        <p:spPr>
          <a:xfrm>
            <a:off x="2552760" y="2353680"/>
            <a:ext cx="46188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React-based user interface and state rendering.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Google Shape;288;p20"/>
          <p:cNvSpPr/>
          <p:nvPr/>
        </p:nvSpPr>
        <p:spPr>
          <a:xfrm>
            <a:off x="2552760" y="2925000"/>
            <a:ext cx="41785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Feature handling and client input validation.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Google Shape;289;p20"/>
          <p:cNvSpPr/>
          <p:nvPr/>
        </p:nvSpPr>
        <p:spPr>
          <a:xfrm>
            <a:off x="2552760" y="3496680"/>
            <a:ext cx="54403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Feature prompt creation and Gemini API communication.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Google Shape;290;p20"/>
          <p:cNvSpPr/>
          <p:nvPr/>
        </p:nvSpPr>
        <p:spPr>
          <a:xfrm>
            <a:off x="2552760" y="4068000"/>
            <a:ext cx="59522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Generative AI engine performing natural language processing.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Google Shape;291;p20"/>
          <p:cNvSpPr/>
          <p:nvPr/>
        </p:nvSpPr>
        <p:spPr>
          <a:xfrm>
            <a:off x="2552760" y="4639680"/>
            <a:ext cx="419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Response validation and final UI formatting.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292;p20"/>
          <p:cNvSpPr/>
          <p:nvPr/>
        </p:nvSpPr>
        <p:spPr>
          <a:xfrm>
            <a:off x="709560" y="2353680"/>
            <a:ext cx="166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Frontend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293;p20"/>
          <p:cNvSpPr/>
          <p:nvPr/>
        </p:nvSpPr>
        <p:spPr>
          <a:xfrm>
            <a:off x="709560" y="2925000"/>
            <a:ext cx="166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App Logic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294;p20"/>
          <p:cNvSpPr/>
          <p:nvPr/>
        </p:nvSpPr>
        <p:spPr>
          <a:xfrm>
            <a:off x="709560" y="3496680"/>
            <a:ext cx="166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AI Service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295;p20"/>
          <p:cNvSpPr/>
          <p:nvPr/>
        </p:nvSpPr>
        <p:spPr>
          <a:xfrm>
            <a:off x="709560" y="4068000"/>
            <a:ext cx="166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Google Gemini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296;p20"/>
          <p:cNvSpPr/>
          <p:nvPr/>
        </p:nvSpPr>
        <p:spPr>
          <a:xfrm>
            <a:off x="709560" y="4639680"/>
            <a:ext cx="166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Inter"/>
                <a:ea typeface="Inter"/>
              </a:rPr>
              <a:t>Processing Layer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301;p21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1" name="Google Shape;302;p21"/>
          <p:cNvSpPr/>
          <p:nvPr/>
        </p:nvSpPr>
        <p:spPr>
          <a:xfrm>
            <a:off x="685800" y="2487960"/>
            <a:ext cx="3453840" cy="220716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2" name="Google Shape;303;p21"/>
          <p:cNvSpPr/>
          <p:nvPr/>
        </p:nvSpPr>
        <p:spPr>
          <a:xfrm>
            <a:off x="4368960" y="2487960"/>
            <a:ext cx="3453840" cy="220716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3" name="Google Shape;304;p21"/>
          <p:cNvSpPr/>
          <p:nvPr/>
        </p:nvSpPr>
        <p:spPr>
          <a:xfrm>
            <a:off x="8051760" y="2487960"/>
            <a:ext cx="3453840" cy="2207160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94" name="Google Shape;305;p21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195" name="Google Shape;306;p21" descr="image.png"/>
          <p:cNvPicPr/>
          <p:nvPr/>
        </p:nvPicPr>
        <p:blipFill>
          <a:blip r:embed="rId1"/>
          <a:stretch/>
        </p:blipFill>
        <p:spPr>
          <a:xfrm>
            <a:off x="923760" y="2802240"/>
            <a:ext cx="342360" cy="3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307;p21" descr="image.png"/>
          <p:cNvPicPr/>
          <p:nvPr/>
        </p:nvPicPr>
        <p:blipFill>
          <a:blip r:embed="rId2"/>
          <a:stretch/>
        </p:blipFill>
        <p:spPr>
          <a:xfrm>
            <a:off x="4606920" y="2802240"/>
            <a:ext cx="342360" cy="3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308;p21" descr="image.png"/>
          <p:cNvPicPr/>
          <p:nvPr/>
        </p:nvPicPr>
        <p:blipFill>
          <a:blip r:embed="rId3"/>
          <a:stretch/>
        </p:blipFill>
        <p:spPr>
          <a:xfrm>
            <a:off x="8290080" y="2802240"/>
            <a:ext cx="428040" cy="3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Google Shape;309;p21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TOOLING &amp; INFRASTRUCTURE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310;p21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Technology Stack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Google Shape;311;p21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Google Shape;312;p21"/>
          <p:cNvSpPr/>
          <p:nvPr/>
        </p:nvSpPr>
        <p:spPr>
          <a:xfrm>
            <a:off x="10991880" y="6162840"/>
            <a:ext cx="7995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09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Google Shape;313;p21"/>
          <p:cNvSpPr/>
          <p:nvPr/>
        </p:nvSpPr>
        <p:spPr>
          <a:xfrm>
            <a:off x="923760" y="3297600"/>
            <a:ext cx="3908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Frontend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Google Shape;314;p21"/>
          <p:cNvSpPr/>
          <p:nvPr/>
        </p:nvSpPr>
        <p:spPr>
          <a:xfrm>
            <a:off x="923760" y="3650040"/>
            <a:ext cx="307260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React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JavaScript (ES6+)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HTML5 &amp; CSS3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Google Shape;315;p21"/>
          <p:cNvSpPr/>
          <p:nvPr/>
        </p:nvSpPr>
        <p:spPr>
          <a:xfrm>
            <a:off x="4606920" y="3297600"/>
            <a:ext cx="3908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Artificial Intelligence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Google Shape;316;p21"/>
          <p:cNvSpPr/>
          <p:nvPr/>
        </p:nvSpPr>
        <p:spPr>
          <a:xfrm>
            <a:off x="4606920" y="3650040"/>
            <a:ext cx="307260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Google Gemini API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Generative AI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Prompt Engineering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Google Shape;317;p21"/>
          <p:cNvSpPr/>
          <p:nvPr/>
        </p:nvSpPr>
        <p:spPr>
          <a:xfrm>
            <a:off x="8290080" y="3297600"/>
            <a:ext cx="39013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Development Platform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Google Shape;318;p21"/>
          <p:cNvSpPr/>
          <p:nvPr/>
        </p:nvSpPr>
        <p:spPr>
          <a:xfrm>
            <a:off x="8290080" y="3650040"/>
            <a:ext cx="307260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Google AI Studio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Node.js</a:t>
            </a:r>
            <a:br>
              <a:rPr sz="1800"/>
            </a:br>
            <a:r>
              <a:rPr b="0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npm package manager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323;p22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09" name="Google Shape;324;p22"/>
          <p:cNvSpPr/>
          <p:nvPr/>
        </p:nvSpPr>
        <p:spPr>
          <a:xfrm>
            <a:off x="685800" y="2297520"/>
            <a:ext cx="5238000" cy="258804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0" name="Google Shape;325;p22"/>
          <p:cNvSpPr/>
          <p:nvPr/>
        </p:nvSpPr>
        <p:spPr>
          <a:xfrm>
            <a:off x="6267600" y="2571840"/>
            <a:ext cx="5238000" cy="2039400"/>
          </a:xfrm>
          <a:prstGeom prst="roundRect">
            <a:avLst>
              <a:gd name="adj" fmla="val 5602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1" name="Google Shape;326;p22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12" name="Google Shape;327;p22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DOUBT CLARIFICATION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Google Shape;328;p22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Question &amp; Answer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Google Shape;329;p22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Google Shape;330;p22"/>
          <p:cNvSpPr/>
          <p:nvPr/>
        </p:nvSpPr>
        <p:spPr>
          <a:xfrm>
            <a:off x="11020320" y="6162840"/>
            <a:ext cx="770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Google Shape;331;p22"/>
          <p:cNvSpPr/>
          <p:nvPr/>
        </p:nvSpPr>
        <p:spPr>
          <a:xfrm>
            <a:off x="961920" y="2573640"/>
            <a:ext cx="6149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Execution Workflow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Google Shape;332;p22"/>
          <p:cNvSpPr/>
          <p:nvPr/>
        </p:nvSpPr>
        <p:spPr>
          <a:xfrm>
            <a:off x="961920" y="2964240"/>
            <a:ext cx="4780800" cy="13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enters academic question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Input validation check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Feature-specific prompt generation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Google Gemini processing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Structured response formatting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Result displayed to student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Google Shape;333;p22"/>
          <p:cNvSpPr/>
          <p:nvPr/>
        </p:nvSpPr>
        <p:spPr>
          <a:xfrm>
            <a:off x="6543720" y="2847960"/>
            <a:ext cx="5647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Student Benefits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Google Shape;334;p22"/>
          <p:cNvSpPr/>
          <p:nvPr/>
        </p:nvSpPr>
        <p:spPr>
          <a:xfrm>
            <a:off x="6543720" y="3238560"/>
            <a:ext cx="47808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Quick academic doubt clarification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Direct and clear explanations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Contextual examples for retention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Friendly, accessible presentation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339;p23"/>
          <p:cNvSpPr/>
          <p:nvPr/>
        </p:nvSpPr>
        <p:spPr>
          <a:xfrm>
            <a:off x="685800" y="5829480"/>
            <a:ext cx="10819800" cy="49464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1" name="Google Shape;340;p23"/>
          <p:cNvSpPr/>
          <p:nvPr/>
        </p:nvSpPr>
        <p:spPr>
          <a:xfrm>
            <a:off x="685800" y="2796480"/>
            <a:ext cx="2532960" cy="141840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2" name="Google Shape;341;p23"/>
          <p:cNvSpPr/>
          <p:nvPr/>
        </p:nvSpPr>
        <p:spPr>
          <a:xfrm>
            <a:off x="3448080" y="2706120"/>
            <a:ext cx="2532960" cy="159948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3" name="Google Shape;342;p23"/>
          <p:cNvSpPr/>
          <p:nvPr/>
        </p:nvSpPr>
        <p:spPr>
          <a:xfrm>
            <a:off x="6210360" y="2796480"/>
            <a:ext cx="2532960" cy="141840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24" name="Google Shape;343;p23"/>
          <p:cNvSpPr/>
          <p:nvPr/>
        </p:nvSpPr>
        <p:spPr>
          <a:xfrm>
            <a:off x="8972640" y="2796480"/>
            <a:ext cx="2532960" cy="1418400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25" name="Google Shape;344;p23" descr="image.png"/>
          <p:cNvPicPr/>
          <p:nvPr/>
        </p:nvPicPr>
        <p:blipFill>
          <a:blip r:embed="rId1"/>
          <a:stretch/>
        </p:blipFill>
        <p:spPr>
          <a:xfrm>
            <a:off x="885960" y="307260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345;p23" descr="image.png"/>
          <p:cNvPicPr/>
          <p:nvPr/>
        </p:nvPicPr>
        <p:blipFill>
          <a:blip r:embed="rId2"/>
          <a:stretch/>
        </p:blipFill>
        <p:spPr>
          <a:xfrm>
            <a:off x="3648240" y="2982240"/>
            <a:ext cx="30420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Google Shape;346;p23" descr="image.png"/>
          <p:cNvPicPr/>
          <p:nvPr/>
        </p:nvPicPr>
        <p:blipFill>
          <a:blip r:embed="rId3"/>
          <a:stretch/>
        </p:blipFill>
        <p:spPr>
          <a:xfrm>
            <a:off x="6410160" y="3072600"/>
            <a:ext cx="304200" cy="26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Google Shape;347;p23" descr="image.png"/>
          <p:cNvPicPr/>
          <p:nvPr/>
        </p:nvPicPr>
        <p:blipFill>
          <a:blip r:embed="rId4"/>
          <a:stretch/>
        </p:blipFill>
        <p:spPr>
          <a:xfrm>
            <a:off x="9172440" y="3072600"/>
            <a:ext cx="266040" cy="2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Google Shape;348;p23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CONCEPT SIMPLIFICATION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Google Shape;349;p23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Explain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Google Shape;350;p23"/>
          <p:cNvSpPr/>
          <p:nvPr/>
        </p:nvSpPr>
        <p:spPr>
          <a:xfrm>
            <a:off x="-190440" y="5981760"/>
            <a:ext cx="125722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Core Purpose: To convert difficult academic concepts into easier-to-understand explanations.</a:t>
            </a:r>
            <a:endParaRPr b="0" lang="en-US" sz="12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Google Shape;351;p23"/>
          <p:cNvSpPr/>
          <p:nvPr/>
        </p:nvSpPr>
        <p:spPr>
          <a:xfrm>
            <a:off x="885960" y="3453840"/>
            <a:ext cx="27997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Simple View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Google Shape;352;p23"/>
          <p:cNvSpPr/>
          <p:nvPr/>
        </p:nvSpPr>
        <p:spPr>
          <a:xfrm>
            <a:off x="885960" y="3758400"/>
            <a:ext cx="2666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Intuitive, jargon-free overview.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Google Shape;353;p23"/>
          <p:cNvSpPr/>
          <p:nvPr/>
        </p:nvSpPr>
        <p:spPr>
          <a:xfrm>
            <a:off x="3648240" y="3363120"/>
            <a:ext cx="27997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Detailed View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Google Shape;354;p23"/>
          <p:cNvSpPr/>
          <p:nvPr/>
        </p:nvSpPr>
        <p:spPr>
          <a:xfrm>
            <a:off x="3648240" y="3668040"/>
            <a:ext cx="22280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Comprehensive technical depth.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Google Shape;355;p23"/>
          <p:cNvSpPr/>
          <p:nvPr/>
        </p:nvSpPr>
        <p:spPr>
          <a:xfrm>
            <a:off x="6410160" y="3453840"/>
            <a:ext cx="27997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Examples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Google Shape;356;p23"/>
          <p:cNvSpPr/>
          <p:nvPr/>
        </p:nvSpPr>
        <p:spPr>
          <a:xfrm>
            <a:off x="6410160" y="3758400"/>
            <a:ext cx="2666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Practical analogies and cases.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Google Shape;357;p23"/>
          <p:cNvSpPr/>
          <p:nvPr/>
        </p:nvSpPr>
        <p:spPr>
          <a:xfrm>
            <a:off x="9172440" y="3453840"/>
            <a:ext cx="27997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3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Structured Data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Google Shape;358;p23"/>
          <p:cNvSpPr/>
          <p:nvPr/>
        </p:nvSpPr>
        <p:spPr>
          <a:xfrm>
            <a:off x="9172440" y="3758400"/>
            <a:ext cx="2666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Organized bullet summaries.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363;p24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1" name="Google Shape;364;p24"/>
          <p:cNvSpPr/>
          <p:nvPr/>
        </p:nvSpPr>
        <p:spPr>
          <a:xfrm>
            <a:off x="685800" y="2297520"/>
            <a:ext cx="5276160" cy="258804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2" name="Google Shape;365;p24"/>
          <p:cNvSpPr/>
          <p:nvPr/>
        </p:nvSpPr>
        <p:spPr>
          <a:xfrm>
            <a:off x="6229440" y="2571840"/>
            <a:ext cx="5276160" cy="2039400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3" name="Google Shape;366;p24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44" name="Google Shape;367;p24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SELF-ASSESSMENT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Google Shape;368;p24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Quiz System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Google Shape;369;p24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Google Shape;370;p24"/>
          <p:cNvSpPr/>
          <p:nvPr/>
        </p:nvSpPr>
        <p:spPr>
          <a:xfrm>
            <a:off x="11020320" y="6162840"/>
            <a:ext cx="770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12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Google Shape;371;p24"/>
          <p:cNvSpPr/>
          <p:nvPr/>
        </p:nvSpPr>
        <p:spPr>
          <a:xfrm>
            <a:off x="961920" y="2573640"/>
            <a:ext cx="619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Quiz Workflow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Google Shape;372;p24"/>
          <p:cNvSpPr/>
          <p:nvPr/>
        </p:nvSpPr>
        <p:spPr>
          <a:xfrm>
            <a:off x="961920" y="2964240"/>
            <a:ext cx="4818960" cy="13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enters topic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AI generates 3 questions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4 options per question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Student selects answers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Submit and automatic score calculation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↓ Correct answers and explanations displayed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Google Shape;373;p24"/>
          <p:cNvSpPr/>
          <p:nvPr/>
        </p:nvSpPr>
        <p:spPr>
          <a:xfrm>
            <a:off x="6505560" y="2847960"/>
            <a:ext cx="5685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Scoring &amp; Feedback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Google Shape;374;p24"/>
          <p:cNvSpPr/>
          <p:nvPr/>
        </p:nvSpPr>
        <p:spPr>
          <a:xfrm>
            <a:off x="6505560" y="3238560"/>
            <a:ext cx="481896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Perfect Score: 3/3 (100%)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Moderate: 2/3 or 1/3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Immediate answer key reveal</a:t>
            </a:r>
            <a:br>
              <a:rPr sz="1800"/>
            </a:b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Detailed rationales for every option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79;p25"/>
          <p:cNvSpPr/>
          <p:nvPr/>
        </p:nvSpPr>
        <p:spPr>
          <a:xfrm>
            <a:off x="685800" y="600048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3" name="Google Shape;380;p25"/>
          <p:cNvSpPr/>
          <p:nvPr/>
        </p:nvSpPr>
        <p:spPr>
          <a:xfrm>
            <a:off x="685800" y="2701080"/>
            <a:ext cx="3690360" cy="1780560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4" name="Google Shape;381;p25"/>
          <p:cNvSpPr/>
          <p:nvPr/>
        </p:nvSpPr>
        <p:spPr>
          <a:xfrm>
            <a:off x="5186520" y="2670840"/>
            <a:ext cx="6319080" cy="1841400"/>
          </a:xfrm>
          <a:prstGeom prst="roundRect">
            <a:avLst>
              <a:gd name="adj" fmla="val 6205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5" name="Google Shape;382;p25"/>
          <p:cNvSpPr/>
          <p:nvPr/>
        </p:nvSpPr>
        <p:spPr>
          <a:xfrm>
            <a:off x="685800" y="600048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56" name="Google Shape;383;p25" descr="image.png"/>
          <p:cNvPicPr/>
          <p:nvPr/>
        </p:nvPicPr>
        <p:blipFill>
          <a:blip r:embed="rId1"/>
          <a:stretch/>
        </p:blipFill>
        <p:spPr>
          <a:xfrm>
            <a:off x="923760" y="3015360"/>
            <a:ext cx="304200" cy="3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Google Shape;384;p25" descr="image.png"/>
          <p:cNvPicPr/>
          <p:nvPr/>
        </p:nvPicPr>
        <p:blipFill>
          <a:blip r:embed="rId2"/>
          <a:stretch/>
        </p:blipFill>
        <p:spPr>
          <a:xfrm>
            <a:off x="4681440" y="3477240"/>
            <a:ext cx="19944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85;p25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CONTENT REVISION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Google Shape;386;p25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Summarizer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Google Shape;387;p25"/>
          <p:cNvSpPr/>
          <p:nvPr/>
        </p:nvSpPr>
        <p:spPr>
          <a:xfrm>
            <a:off x="685800" y="616248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Google Shape;388;p25"/>
          <p:cNvSpPr/>
          <p:nvPr/>
        </p:nvSpPr>
        <p:spPr>
          <a:xfrm>
            <a:off x="11020320" y="6162480"/>
            <a:ext cx="770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13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Google Shape;389;p25"/>
          <p:cNvSpPr/>
          <p:nvPr/>
        </p:nvSpPr>
        <p:spPr>
          <a:xfrm>
            <a:off x="923760" y="3472560"/>
            <a:ext cx="4218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Input Text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Google Shape;390;p25"/>
          <p:cNvSpPr/>
          <p:nvPr/>
        </p:nvSpPr>
        <p:spPr>
          <a:xfrm>
            <a:off x="923760" y="3786840"/>
            <a:ext cx="3309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Paste study material, notes, or textbook excerpts.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Google Shape;391;p25"/>
          <p:cNvSpPr/>
          <p:nvPr/>
        </p:nvSpPr>
        <p:spPr>
          <a:xfrm>
            <a:off x="5462640" y="2985120"/>
            <a:ext cx="67287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Generated Revision Output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Google Shape;392;p25"/>
          <p:cNvSpPr/>
          <p:nvPr/>
        </p:nvSpPr>
        <p:spPr>
          <a:xfrm>
            <a:off x="5462640" y="3375720"/>
            <a:ext cx="5861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Concise summary capturing core thesis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Key points for rapid exam recall</a:t>
            </a:r>
            <a:br>
              <a:rPr sz="1800"/>
            </a:br>
            <a:r>
              <a:rPr b="0" lang="en-US" sz="120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Important definitions and concepts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397;p26"/>
          <p:cNvSpPr/>
          <p:nvPr/>
        </p:nvSpPr>
        <p:spPr>
          <a:xfrm>
            <a:off x="685800" y="5810400"/>
            <a:ext cx="10819800" cy="51372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7" name="Google Shape;398;p26"/>
          <p:cNvSpPr/>
          <p:nvPr/>
        </p:nvSpPr>
        <p:spPr>
          <a:xfrm>
            <a:off x="685800" y="2849040"/>
            <a:ext cx="2561400" cy="129456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8" name="Google Shape;399;p26"/>
          <p:cNvSpPr/>
          <p:nvPr/>
        </p:nvSpPr>
        <p:spPr>
          <a:xfrm>
            <a:off x="3438360" y="2849040"/>
            <a:ext cx="2561400" cy="129456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69" name="Google Shape;400;p26"/>
          <p:cNvSpPr/>
          <p:nvPr/>
        </p:nvSpPr>
        <p:spPr>
          <a:xfrm>
            <a:off x="6191280" y="2849040"/>
            <a:ext cx="2561400" cy="129456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70" name="Google Shape;401;p26"/>
          <p:cNvSpPr/>
          <p:nvPr/>
        </p:nvSpPr>
        <p:spPr>
          <a:xfrm>
            <a:off x="8943840" y="2849040"/>
            <a:ext cx="2561400" cy="129456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271" name="Google Shape;402;p26" descr="image.png"/>
          <p:cNvPicPr/>
          <p:nvPr/>
        </p:nvPicPr>
        <p:blipFill>
          <a:blip r:embed="rId1"/>
          <a:stretch/>
        </p:blipFill>
        <p:spPr>
          <a:xfrm>
            <a:off x="885960" y="3087000"/>
            <a:ext cx="19944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Google Shape;403;p26" descr="image.png"/>
          <p:cNvPicPr/>
          <p:nvPr/>
        </p:nvPicPr>
        <p:blipFill>
          <a:blip r:embed="rId2"/>
          <a:stretch/>
        </p:blipFill>
        <p:spPr>
          <a:xfrm>
            <a:off x="3638520" y="30870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Google Shape;404;p26" descr="image.png"/>
          <p:cNvPicPr/>
          <p:nvPr/>
        </p:nvPicPr>
        <p:blipFill>
          <a:blip r:embed="rId3"/>
          <a:stretch/>
        </p:blipFill>
        <p:spPr>
          <a:xfrm>
            <a:off x="6391440" y="3087000"/>
            <a:ext cx="28512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Google Shape;405;p26" descr="image.png"/>
          <p:cNvPicPr/>
          <p:nvPr/>
        </p:nvPicPr>
        <p:blipFill>
          <a:blip r:embed="rId4"/>
          <a:stretch/>
        </p:blipFill>
        <p:spPr>
          <a:xfrm>
            <a:off x="9144000" y="308700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Google Shape;406;p26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CURRICULUM GUIDANCE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Google Shape;407;p26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Learning Recommendations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408;p26"/>
          <p:cNvSpPr/>
          <p:nvPr/>
        </p:nvSpPr>
        <p:spPr>
          <a:xfrm>
            <a:off x="-184680" y="5972040"/>
            <a:ext cx="12560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Purpose: Provides a structured approach for students embarking on new subjects.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Google Shape;409;p26"/>
          <p:cNvSpPr/>
          <p:nvPr/>
        </p:nvSpPr>
        <p:spPr>
          <a:xfrm>
            <a:off x="885960" y="3429720"/>
            <a:ext cx="2837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1. Prerequisites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Google Shape;410;p26"/>
          <p:cNvSpPr/>
          <p:nvPr/>
        </p:nvSpPr>
        <p:spPr>
          <a:xfrm>
            <a:off x="885960" y="3725280"/>
            <a:ext cx="2702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Foundational concepts first.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Google Shape;411;p26"/>
          <p:cNvSpPr/>
          <p:nvPr/>
        </p:nvSpPr>
        <p:spPr>
          <a:xfrm>
            <a:off x="3638520" y="3429720"/>
            <a:ext cx="2837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2. Next Topics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Google Shape;412;p26"/>
          <p:cNvSpPr/>
          <p:nvPr/>
        </p:nvSpPr>
        <p:spPr>
          <a:xfrm>
            <a:off x="3638520" y="3725280"/>
            <a:ext cx="2702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Logical progression steps.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Google Shape;413;p26"/>
          <p:cNvSpPr/>
          <p:nvPr/>
        </p:nvSpPr>
        <p:spPr>
          <a:xfrm>
            <a:off x="6391440" y="3429720"/>
            <a:ext cx="2837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3. Practice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Google Shape;414;p26"/>
          <p:cNvSpPr/>
          <p:nvPr/>
        </p:nvSpPr>
        <p:spPr>
          <a:xfrm>
            <a:off x="6391440" y="3725280"/>
            <a:ext cx="2702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Hands-on problem sets.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Google Shape;415;p26"/>
          <p:cNvSpPr/>
          <p:nvPr/>
        </p:nvSpPr>
        <p:spPr>
          <a:xfrm>
            <a:off x="9144000" y="3429720"/>
            <a:ext cx="2837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4. Revision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Google Shape;416;p26"/>
          <p:cNvSpPr/>
          <p:nvPr/>
        </p:nvSpPr>
        <p:spPr>
          <a:xfrm>
            <a:off x="9144000" y="3725280"/>
            <a:ext cx="270216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Retention suggestions.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421;p27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7" name="Google Shape;422;p27"/>
          <p:cNvSpPr/>
          <p:nvPr/>
        </p:nvSpPr>
        <p:spPr>
          <a:xfrm>
            <a:off x="685800" y="2544120"/>
            <a:ext cx="5295240" cy="209484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8" name="Google Shape;423;p27"/>
          <p:cNvSpPr/>
          <p:nvPr/>
        </p:nvSpPr>
        <p:spPr>
          <a:xfrm>
            <a:off x="6210360" y="2672640"/>
            <a:ext cx="5295240" cy="1837440"/>
          </a:xfrm>
          <a:prstGeom prst="roundRect">
            <a:avLst>
              <a:gd name="adj" fmla="val 6217"/>
            </a:avLst>
          </a:prstGeom>
          <a:solidFill>
            <a:srgbClr val="eff6ff"/>
          </a:solidFill>
          <a:ln w="9525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89" name="Google Shape;424;p27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90" name="Google Shape;425;p27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SYSTEM TUNING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Google Shape;426;p27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AI &amp; Prompt Engineering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Google Shape;427;p27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Google Shape;428;p27"/>
          <p:cNvSpPr/>
          <p:nvPr/>
        </p:nvSpPr>
        <p:spPr>
          <a:xfrm>
            <a:off x="11030040" y="6162840"/>
            <a:ext cx="7614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15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Google Shape;429;p27"/>
          <p:cNvSpPr/>
          <p:nvPr/>
        </p:nvSpPr>
        <p:spPr>
          <a:xfrm>
            <a:off x="923760" y="2782080"/>
            <a:ext cx="6325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Feature-Specific Prompts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Google Shape;430;p27"/>
          <p:cNvSpPr/>
          <p:nvPr/>
        </p:nvSpPr>
        <p:spPr>
          <a:xfrm>
            <a:off x="923760" y="3115440"/>
            <a:ext cx="4914360" cy="9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Q&amp;A: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Accurate, clear student response.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Explain: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Step-by-step breakdown.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Quiz: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Exactly 3 questions with 4 options.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Summarize: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Key points and definitions.</a:t>
            </a:r>
            <a:br>
              <a:rPr sz="1800"/>
            </a:b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• </a:t>
            </a:r>
            <a:r>
              <a:rPr b="1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Recommendations:</a:t>
            </a:r>
            <a:r>
              <a:rPr b="0" lang="en-US" sz="1130" strike="noStrike" u="none">
                <a:solidFill>
                  <a:srgbClr val="334155"/>
                </a:solidFill>
                <a:uFillTx/>
                <a:latin typeface="Inter"/>
                <a:ea typeface="Inter"/>
              </a:rPr>
              <a:t> Structured learning path.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Google Shape;431;p27"/>
          <p:cNvSpPr/>
          <p:nvPr/>
        </p:nvSpPr>
        <p:spPr>
          <a:xfrm>
            <a:off x="6448320" y="2910960"/>
            <a:ext cx="574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40af"/>
                </a:solidFill>
                <a:uFillTx/>
                <a:latin typeface="Plus Jakarta Sans"/>
                <a:ea typeface="Plus Jakarta Sans"/>
              </a:rPr>
              <a:t>Engineering Purpose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Google Shape;432;p27"/>
          <p:cNvSpPr/>
          <p:nvPr/>
        </p:nvSpPr>
        <p:spPr>
          <a:xfrm>
            <a:off x="6448320" y="3244320"/>
            <a:ext cx="491436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Enforces student-friendly tone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Eliminates unstructured output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Enforces strict option schema</a:t>
            </a:r>
            <a:br>
              <a:rPr sz="1800"/>
            </a:br>
            <a:r>
              <a:rPr b="0" lang="en-US" sz="1130" strike="noStrike" u="none">
                <a:solidFill>
                  <a:srgbClr val="1e3a8a"/>
                </a:solidFill>
                <a:uFillTx/>
                <a:latin typeface="Inter"/>
                <a:ea typeface="Inter"/>
              </a:rPr>
              <a:t> • Ensures deterministic responses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437;p28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99" name="Google Shape;438;p28"/>
          <p:cNvSpPr/>
          <p:nvPr/>
        </p:nvSpPr>
        <p:spPr>
          <a:xfrm>
            <a:off x="7305840" y="2824920"/>
            <a:ext cx="4199760" cy="153288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0" name="Google Shape;439;p28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301" name="Google Shape;440;p28" descr="image.png"/>
          <p:cNvPicPr/>
          <p:nvPr/>
        </p:nvPicPr>
        <p:blipFill>
          <a:blip r:embed="rId1"/>
          <a:stretch/>
        </p:blipFill>
        <p:spPr>
          <a:xfrm>
            <a:off x="9196560" y="3063240"/>
            <a:ext cx="418320" cy="41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441;p28"/>
          <p:cNvSpPr/>
          <p:nvPr/>
        </p:nvSpPr>
        <p:spPr>
          <a:xfrm>
            <a:off x="685800" y="2682360"/>
            <a:ext cx="6276240" cy="1818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graphicFrame>
        <p:nvGraphicFramePr>
          <p:cNvPr id="303" name="Google Shape;442;p28"/>
          <p:cNvGraphicFramePr/>
          <p:nvPr/>
        </p:nvGraphicFramePr>
        <p:xfrm>
          <a:off x="685800" y="2682360"/>
          <a:ext cx="6266880" cy="18180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622600"/>
                <a:gridCol w="2713680"/>
                <a:gridCol w="930960"/>
              </a:tblGrid>
              <a:tr h="363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Test Area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Expected Result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475569"/>
                          </a:solidFill>
                          <a:uFillTx/>
                          <a:latin typeface="Inter"/>
                          <a:ea typeface="Inter"/>
                        </a:rPr>
                        <a:t>Status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3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Dashboard Loading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Loads UI components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AI Q&amp;A &amp; Explain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Generates clear explanation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Quiz Generation &amp; Scoring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3 questions with score check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e293b"/>
                          </a:solidFill>
                          <a:uFillTx/>
                          <a:latin typeface="Inter"/>
                          <a:ea typeface="Inter"/>
                        </a:rPr>
                        <a:t>Input &amp; Error Handling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64748b"/>
                          </a:solidFill>
                          <a:uFillTx/>
                          <a:latin typeface="Inter"/>
                          <a:ea typeface="Inter"/>
                        </a:rPr>
                        <a:t>Safe validation messages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16a34a"/>
                          </a:solidFill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4" name="Google Shape;443;p28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6a34a"/>
                </a:solidFill>
                <a:uFillTx/>
                <a:latin typeface="Inter"/>
                <a:ea typeface="Inter"/>
              </a:rPr>
              <a:t>QUALITY ASSURANCE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Google Shape;444;p28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Testing &amp; Results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Google Shape;445;p28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Google Shape;446;p28"/>
          <p:cNvSpPr/>
          <p:nvPr/>
        </p:nvSpPr>
        <p:spPr>
          <a:xfrm>
            <a:off x="11020320" y="6162840"/>
            <a:ext cx="770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16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Google Shape;447;p28"/>
          <p:cNvSpPr/>
          <p:nvPr/>
        </p:nvSpPr>
        <p:spPr>
          <a:xfrm>
            <a:off x="6962040" y="3596760"/>
            <a:ext cx="48873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100% Pass Rate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Google Shape;448;p28"/>
          <p:cNvSpPr/>
          <p:nvPr/>
        </p:nvSpPr>
        <p:spPr>
          <a:xfrm>
            <a:off x="7078320" y="3939480"/>
            <a:ext cx="4654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All test cases verified across responsive viewports.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453;p29"/>
          <p:cNvSpPr/>
          <p:nvPr/>
        </p:nvSpPr>
        <p:spPr>
          <a:xfrm>
            <a:off x="685800" y="6000840"/>
            <a:ext cx="108198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1" name="Google Shape;454;p29"/>
          <p:cNvSpPr/>
          <p:nvPr/>
        </p:nvSpPr>
        <p:spPr>
          <a:xfrm>
            <a:off x="685800" y="2477520"/>
            <a:ext cx="5238000" cy="2228040"/>
          </a:xfrm>
          <a:prstGeom prst="roundRect">
            <a:avLst>
              <a:gd name="adj" fmla="val 5128"/>
            </a:avLst>
          </a:prstGeom>
          <a:solidFill>
            <a:srgbClr val="f0fdf4"/>
          </a:solidFill>
          <a:ln w="9525">
            <a:solidFill>
              <a:srgbClr val="dcf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2" name="Google Shape;455;p29"/>
          <p:cNvSpPr/>
          <p:nvPr/>
        </p:nvSpPr>
        <p:spPr>
          <a:xfrm>
            <a:off x="6267600" y="2477520"/>
            <a:ext cx="5238000" cy="222804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3" name="Google Shape;456;p29"/>
          <p:cNvSpPr/>
          <p:nvPr/>
        </p:nvSpPr>
        <p:spPr>
          <a:xfrm>
            <a:off x="685800" y="6000840"/>
            <a:ext cx="10819800" cy="8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4" name="Google Shape;457;p29"/>
          <p:cNvSpPr/>
          <p:nvPr/>
        </p:nvSpPr>
        <p:spPr>
          <a:xfrm>
            <a:off x="685800" y="533520"/>
            <a:ext cx="115056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563eb"/>
                </a:solidFill>
                <a:uFillTx/>
                <a:latin typeface="Inter"/>
                <a:ea typeface="Inter"/>
              </a:rPr>
              <a:t>ASSESSMENT &amp; ROADMAP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Google Shape;458;p29"/>
          <p:cNvSpPr/>
          <p:nvPr/>
        </p:nvSpPr>
        <p:spPr>
          <a:xfrm>
            <a:off x="685800" y="771480"/>
            <a:ext cx="1150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f172a"/>
                </a:solidFill>
                <a:uFillTx/>
                <a:latin typeface="Plus Jakarta Sans"/>
                <a:ea typeface="Plus Jakarta Sans"/>
              </a:rPr>
              <a:t>Advantages &amp; Future Scope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Google Shape;459;p29"/>
          <p:cNvSpPr/>
          <p:nvPr/>
        </p:nvSpPr>
        <p:spPr>
          <a:xfrm>
            <a:off x="685800" y="6162840"/>
            <a:ext cx="22017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EduGenie Architecture Deck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Google Shape;460;p29"/>
          <p:cNvSpPr/>
          <p:nvPr/>
        </p:nvSpPr>
        <p:spPr>
          <a:xfrm>
            <a:off x="11030040" y="6162840"/>
            <a:ext cx="7614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Slide 17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Google Shape;461;p29"/>
          <p:cNvSpPr/>
          <p:nvPr/>
        </p:nvSpPr>
        <p:spPr>
          <a:xfrm>
            <a:off x="961920" y="2753640"/>
            <a:ext cx="6149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66534"/>
                </a:solidFill>
                <a:uFillTx/>
                <a:latin typeface="Plus Jakarta Sans"/>
                <a:ea typeface="Plus Jakarta Sans"/>
              </a:rPr>
              <a:t>Current Advantages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Google Shape;462;p29"/>
          <p:cNvSpPr/>
          <p:nvPr/>
        </p:nvSpPr>
        <p:spPr>
          <a:xfrm>
            <a:off x="961920" y="3144240"/>
            <a:ext cx="4780800" cy="9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Centralized AI learning tools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Fast doubt resolution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Interactive self-assessment quizzes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Rapid study material summarization</a:t>
            </a:r>
            <a:br>
              <a:rPr sz="1800"/>
            </a:br>
            <a:r>
              <a:rPr b="0" lang="en-US" sz="1130" strike="noStrike" u="none">
                <a:solidFill>
                  <a:srgbClr val="14532d"/>
                </a:solidFill>
                <a:uFillTx/>
                <a:latin typeface="Inter"/>
                <a:ea typeface="Inter"/>
              </a:rPr>
              <a:t> • Structured learning path recommendations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Google Shape;463;p29"/>
          <p:cNvSpPr/>
          <p:nvPr/>
        </p:nvSpPr>
        <p:spPr>
          <a:xfrm>
            <a:off x="6543720" y="2753640"/>
            <a:ext cx="5647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uFillTx/>
                <a:latin typeface="Plus Jakarta Sans"/>
                <a:ea typeface="Plus Jakarta Sans"/>
              </a:rPr>
              <a:t>Proposed Future Scope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Google Shape;464;p29"/>
          <p:cNvSpPr/>
          <p:nvPr/>
        </p:nvSpPr>
        <p:spPr>
          <a:xfrm>
            <a:off x="6543720" y="3144240"/>
            <a:ext cx="4780800" cy="9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• </a:t>
            </a: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Student accounts &amp; progress tracking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PDF study &amp; RAG document querying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Voice-based learning interaction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Multilingual regional support</a:t>
            </a:r>
            <a:br>
              <a:rPr sz="1800"/>
            </a:br>
            <a:r>
              <a:rPr b="0" lang="en-US" sz="1130" strike="noStrike" u="none">
                <a:solidFill>
                  <a:srgbClr val="475569"/>
                </a:solidFill>
                <a:uFillTx/>
                <a:latin typeface="Inter"/>
                <a:ea typeface="Inter"/>
              </a:rPr>
              <a:t> • Adaptive quizzes &amp; teacher dashboard</a:t>
            </a:r>
            <a:endParaRPr b="0" lang="en-US" sz="11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469;p30"/>
          <p:cNvSpPr/>
          <p:nvPr/>
        </p:nvSpPr>
        <p:spPr>
          <a:xfrm>
            <a:off x="762120" y="5886360"/>
            <a:ext cx="106671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3" name="Google Shape;470;p30"/>
          <p:cNvSpPr/>
          <p:nvPr/>
        </p:nvSpPr>
        <p:spPr>
          <a:xfrm>
            <a:off x="5829480" y="3705120"/>
            <a:ext cx="532800" cy="37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4" name="Google Shape;471;p30"/>
          <p:cNvSpPr/>
          <p:nvPr/>
        </p:nvSpPr>
        <p:spPr>
          <a:xfrm>
            <a:off x="762120" y="5886360"/>
            <a:ext cx="10667160" cy="8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pic>
        <p:nvPicPr>
          <p:cNvPr id="325" name="Google Shape;472;p30" descr="image.png"/>
          <p:cNvPicPr/>
          <p:nvPr/>
        </p:nvPicPr>
        <p:blipFill>
          <a:blip r:embed="rId1"/>
          <a:stretch/>
        </p:blipFill>
        <p:spPr>
          <a:xfrm>
            <a:off x="5867280" y="6094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Google Shape;473;p30" descr="image.png"/>
          <p:cNvPicPr/>
          <p:nvPr/>
        </p:nvPicPr>
        <p:blipFill>
          <a:blip r:embed="rId2"/>
          <a:stretch/>
        </p:blipFill>
        <p:spPr>
          <a:xfrm>
            <a:off x="5952960" y="723960"/>
            <a:ext cx="28512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Google Shape;474;p30"/>
          <p:cNvSpPr/>
          <p:nvPr/>
        </p:nvSpPr>
        <p:spPr>
          <a:xfrm>
            <a:off x="-285840" y="1924200"/>
            <a:ext cx="127627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150" strike="noStrike" u="none">
                <a:solidFill>
                  <a:srgbClr val="f8fafc"/>
                </a:solidFill>
                <a:uFillTx/>
                <a:latin typeface="Plus Jakarta Sans"/>
                <a:ea typeface="Plus Jakarta Sans"/>
              </a:rPr>
              <a:t>Practical Generative AI in Education</a:t>
            </a:r>
            <a:endParaRPr b="0" lang="en-US" sz="31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8" name="Google Shape;475;p30"/>
          <p:cNvSpPr/>
          <p:nvPr/>
        </p:nvSpPr>
        <p:spPr>
          <a:xfrm>
            <a:off x="1571760" y="2581200"/>
            <a:ext cx="9047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4a3b8"/>
                </a:solidFill>
                <a:uFillTx/>
                <a:latin typeface="Inter"/>
                <a:ea typeface="Inter"/>
              </a:rPr>
              <a:t>EduGenie unifies Question Answering, Concept Explanation, Quiz Generation, Summarization, and Learning Recommendations into a responsive, student-centered assistant.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9" name="Google Shape;476;p30"/>
          <p:cNvSpPr/>
          <p:nvPr/>
        </p:nvSpPr>
        <p:spPr>
          <a:xfrm>
            <a:off x="-285840" y="4086360"/>
            <a:ext cx="127627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38bdf8"/>
                </a:solidFill>
                <a:uFillTx/>
                <a:latin typeface="Plus Jakarta Sans"/>
                <a:ea typeface="Plus Jakarta Sans"/>
              </a:rPr>
              <a:t>THANK YOU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0" name="Google Shape;477;p30"/>
          <p:cNvSpPr/>
          <p:nvPr/>
        </p:nvSpPr>
        <p:spPr>
          <a:xfrm>
            <a:off x="-285840" y="4829040"/>
            <a:ext cx="12762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Questions &amp; Discussion</a:t>
            </a:r>
            <a:endParaRPr b="0" lang="en-US" sz="13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Google Shape;478;p30"/>
          <p:cNvSpPr/>
          <p:nvPr/>
        </p:nvSpPr>
        <p:spPr>
          <a:xfrm>
            <a:off x="576360" y="6086520"/>
            <a:ext cx="18565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Presented by Lohith NR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2" name="Google Shape;479;p30"/>
          <p:cNvSpPr/>
          <p:nvPr/>
        </p:nvSpPr>
        <p:spPr>
          <a:xfrm>
            <a:off x="8300880" y="6086520"/>
            <a:ext cx="347580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uFillTx/>
                <a:latin typeface="Inter"/>
                <a:ea typeface="Inter"/>
              </a:rPr>
              <a:t>B.Sc. Computer Science – AI &amp; Data Science</a:t>
            </a:r>
            <a:endParaRPr b="0" lang="en-US" sz="10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LibreOfficeDev/24.8.7.2.0$Android_AARCH64 LibreOffice_project/</Application>
  <AppVersion>15.0000</AppVersion>
  <Words>1023</Words>
  <Paragraphs>209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description/>
  <dc:language>en-US</dc:language>
  <cp:lastModifiedBy/>
  <dcterms:modified xsi:type="dcterms:W3CDTF">2026-09-29T19:21:00Z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Widescreen</vt:lpwstr>
  </property>
  <property fmtid="{D5CDD505-2E9C-101B-9397-08002B2CF9AE}" pid="4" name="Slides">
    <vt:r8>18</vt:r8>
  </property>
</Properties>
</file>